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22791"/>
              </a:gs>
              <a:gs pos="100000">
                <a:srgbClr val="4D75FE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1371600"/>
            <a:ext cx="320040" cy="320040"/>
          </a:xfrm>
          <a:prstGeom prst="ellipse">
            <a:avLst/>
          </a:prstGeom>
          <a:solidFill>
            <a:srgbClr val="FAA94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828800"/>
            <a:ext cx="320040" cy="320040"/>
          </a:xfrm>
          <a:prstGeom prst="ellipse">
            <a:avLst/>
          </a:prstGeom>
          <a:solidFill>
            <a:srgbClr val="FF8A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572000"/>
            <a:ext cx="320040" cy="320040"/>
          </a:xfrm>
          <a:prstGeom prst="ellipse">
            <a:avLst/>
          </a:prstGeom>
          <a:solidFill>
            <a:srgbClr val="4D75F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3840480"/>
            <a:ext cx="320040" cy="320040"/>
          </a:xfrm>
          <a:prstGeom prst="ellipse">
            <a:avLst/>
          </a:prstGeom>
          <a:solidFill>
            <a:srgbClr val="FAA94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penTeams-favic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828800"/>
            <a:ext cx="3200400" cy="3200400"/>
          </a:xfrm>
          <a:prstGeom prst="rect">
            <a:avLst/>
          </a:prstGeom>
        </p:spPr>
      </p:pic>
      <p:pic>
        <p:nvPicPr>
          <p:cNvPr id="8" name="Picture 7" descr="OT-new-logo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"/>
            <a:ext cx="2194560" cy="575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219456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22791"/>
                </a:solidFill>
                <a:latin typeface="Inter Tight"/>
              </a:defRPr>
            </a:pPr>
            <a:r>
              <a:t>Presentation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4D75FE"/>
                </a:solidFill>
                <a:latin typeface="Inter Tight"/>
              </a:defRPr>
            </a:pPr>
            <a:r>
              <a:t>Subtitle or tagline goes here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4D75FE"/>
                </a:solidFill>
                <a:latin typeface="Inter Tight"/>
              </a:defRPr>
            </a:pPr>
            <a:r>
              <a:t>Month Year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03520"/>
            <a:ext cx="2011680" cy="502920"/>
          </a:xfrm>
          <a:prstGeom prst="roundRect">
            <a:avLst>
              <a:gd name="adj" fmla="val 50000"/>
            </a:avLst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Inter Tight"/>
              </a:defRPr>
            </a:pPr>
            <a:r>
              <a:t>Get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Confidential  |  © 2025 OpenTeams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82296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2240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Topic 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Inter Tight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Topic 2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Topic 3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457200" cy="45720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Topic 4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C0C0C"/>
                </a:solidFill>
                <a:latin typeface="Inter Tight"/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349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262626"/>
                </a:solidFill>
                <a:latin typeface="Inter Tight"/>
              </a:defRPr>
            </a:pPr>
            <a:r>
              <a:t>Topic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15" name="Picture 14" descr="OpenTeams-favicon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  <p:pic>
        <p:nvPicPr>
          <p:cNvPr id="16" name="Picture 15" descr="OT-new-logo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7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56032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Inter Tight"/>
              </a:defRPr>
            </a:pPr>
            <a:r>
              <a:t>Section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109441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59"/>
              </a:spcAft>
              <a:defRPr sz="2400" b="0">
                <a:solidFill>
                  <a:srgbClr val="4D75FE"/>
                </a:solidFill>
                <a:latin typeface="Inter Tight"/>
              </a:defRPr>
            </a:pPr>
            <a:r>
              <a:t>Brief description of this section</a:t>
            </a:r>
          </a:p>
        </p:txBody>
      </p:sp>
      <p:pic>
        <p:nvPicPr>
          <p:cNvPr id="5" name="Picture 4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17336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9728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99"/>
              </a:spcAft>
              <a:defRPr sz="1500" b="0">
                <a:solidFill>
                  <a:srgbClr val="262626"/>
                </a:solidFill>
                <a:latin typeface="Inter Tight"/>
              </a:defRPr>
            </a:pPr>
            <a:r>
              <a:t>Your content goes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212080" cy="4389120"/>
          </a:xfrm>
          <a:prstGeom prst="roundRect">
            <a:avLst>
              <a:gd name="adj" fmla="val 3472"/>
            </a:avLst>
          </a:prstGeom>
          <a:solidFill>
            <a:srgbClr val="E8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D75FE"/>
                </a:solidFill>
                <a:latin typeface="Roboto"/>
              </a:defRPr>
            </a:pPr>
            <a:r>
              <a:t>[ Visual / Image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8" name="Picture 7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9728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Comparison Title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5303520" cy="36576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Left Column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Left column content goes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286000"/>
            <a:ext cx="5303520" cy="36576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468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Right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301752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59"/>
              </a:spcAft>
              <a:defRPr sz="1400" b="0">
                <a:solidFill>
                  <a:srgbClr val="262626"/>
                </a:solidFill>
                <a:latin typeface="Inter Tight"/>
              </a:defRPr>
            </a:pPr>
            <a:r>
              <a:t>Right column content goes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12" name="Picture 11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Key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46888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Metric 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2103120"/>
            <a:ext cx="2468880" cy="54864"/>
          </a:xfrm>
          <a:prstGeom prst="rect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0x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Metric Two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2103120"/>
            <a:ext cx="2468880" cy="54864"/>
          </a:xfrm>
          <a:prstGeom prst="rect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Metric Three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2103120"/>
            <a:ext cx="2468880" cy="146304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5400" y="2103120"/>
            <a:ext cx="2468880" cy="54864"/>
          </a:xfrm>
          <a:prstGeom prst="rect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3774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22791"/>
                </a:solidFill>
                <a:latin typeface="Inter Tight"/>
              </a:defRPr>
            </a:pPr>
            <a:r>
              <a:t>00/7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017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262626"/>
                </a:solidFill>
                <a:latin typeface="Inter Tight"/>
              </a:defRPr>
            </a:pPr>
            <a:r>
              <a:t>Metric Four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10789920" cy="2286000"/>
          </a:xfrm>
          <a:prstGeom prst="roundRect">
            <a:avLst>
              <a:gd name="adj" fmla="val 6666"/>
            </a:avLst>
          </a:prstGeom>
          <a:solidFill>
            <a:srgbClr val="E8ED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4D75FE"/>
                </a:solidFill>
                <a:latin typeface="Roboto"/>
              </a:defRPr>
            </a:pPr>
            <a:r>
              <a:t>[ Chart / Data Visualization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23" name="Picture 22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27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0" b="1">
                <a:solidFill>
                  <a:srgbClr val="4D75FE"/>
                </a:solidFill>
                <a:latin typeface="Inter Tight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 Tight"/>
              </a:defRPr>
            </a:pPr>
            <a:r>
              <a:t>Your bold statement or testimonial goes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1600" b="0">
                <a:solidFill>
                  <a:srgbClr val="4D75FE"/>
                </a:solidFill>
                <a:latin typeface="Inter Tight"/>
              </a:defRPr>
            </a:pPr>
            <a:r>
              <a:t>— Speaker Name, Title</a:t>
            </a:r>
          </a:p>
        </p:txBody>
      </p:sp>
      <p:sp>
        <p:nvSpPr>
          <p:cNvPr id="5" name="Oval 4"/>
          <p:cNvSpPr/>
          <p:nvPr/>
        </p:nvSpPr>
        <p:spPr>
          <a:xfrm>
            <a:off x="10515600" y="5029200"/>
            <a:ext cx="228600" cy="22860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28600" cy="22860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117336"/>
            <a:ext cx="1568394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17320" y="2468880"/>
            <a:ext cx="1280160" cy="128016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Full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Job Title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2468880"/>
            <a:ext cx="1280160" cy="1280160"/>
          </a:xfrm>
          <a:prstGeom prst="ellipse">
            <a:avLst/>
          </a:prstGeom>
          <a:solidFill>
            <a:srgbClr val="022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Full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Job 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95160" y="2468880"/>
            <a:ext cx="1280160" cy="128016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Full 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Job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20" y="2103120"/>
            <a:ext cx="2468880" cy="3840480"/>
          </a:xfrm>
          <a:prstGeom prst="roundRect">
            <a:avLst>
              <a:gd name="adj" fmla="val 6172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84080" y="2468880"/>
            <a:ext cx="1280160" cy="128016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4023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39"/>
              </a:spcAft>
              <a:defRPr sz="1600" b="1">
                <a:solidFill>
                  <a:srgbClr val="022791"/>
                </a:solidFill>
                <a:latin typeface="Inter Tight"/>
              </a:defRPr>
            </a:pPr>
            <a:r>
              <a:t>Full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44805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79"/>
              </a:spcAft>
              <a:defRPr sz="1200" b="0">
                <a:solidFill>
                  <a:srgbClr val="4D75FE"/>
                </a:solidFill>
                <a:latin typeface="Inter Tight"/>
              </a:defRPr>
            </a:pPr>
            <a:r>
              <a:t>Job Title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9377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39"/>
              </a:spcAft>
              <a:defRPr sz="1100" b="0">
                <a:solidFill>
                  <a:srgbClr val="262626"/>
                </a:solidFill>
                <a:latin typeface="Inter Tight"/>
              </a:defRPr>
            </a:pPr>
            <a:r>
              <a:t>Brief bio or expertise.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26" name="Picture 25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T-new-logo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"/>
            <a:ext cx="1568394" cy="4114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8640" y="1005840"/>
            <a:ext cx="731520" cy="54864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22791"/>
                </a:solidFill>
                <a:latin typeface="Inter Tight"/>
              </a:defRPr>
            </a:pPr>
            <a:r>
              <a:t>Case Study: Client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86000"/>
            <a:ext cx="3383280" cy="36576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286000"/>
            <a:ext cx="3383280" cy="64008"/>
          </a:xfrm>
          <a:prstGeom prst="rect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651760"/>
            <a:ext cx="548640" cy="548640"/>
          </a:xfrm>
          <a:prstGeom prst="ellipse">
            <a:avLst/>
          </a:prstGeom>
          <a:solidFill>
            <a:srgbClr val="FF8A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Describe the client's challenge or pain point.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86000"/>
            <a:ext cx="3383280" cy="36576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286000"/>
            <a:ext cx="3383280" cy="64008"/>
          </a:xfrm>
          <a:prstGeom prst="rect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2651760"/>
            <a:ext cx="548640" cy="548640"/>
          </a:xfrm>
          <a:prstGeom prst="ellipse">
            <a:avLst/>
          </a:prstGeom>
          <a:solidFill>
            <a:srgbClr val="4D7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Explain the approach and how the solution was implemented.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286000"/>
            <a:ext cx="3383280" cy="3657600"/>
          </a:xfrm>
          <a:prstGeom prst="roundRect">
            <a:avLst>
              <a:gd name="adj" fmla="val 4504"/>
            </a:avLst>
          </a:prstGeom>
          <a:solidFill>
            <a:srgbClr val="FFFFFF"/>
          </a:solidFill>
          <a:ln>
            <a:noFill/>
          </a:ln>
          <a:effectLst>
            <a:outerShdw blurRad="152400" dist="38100" dir="5400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2286000"/>
            <a:ext cx="3383280" cy="64008"/>
          </a:xfrm>
          <a:prstGeom prst="rect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58200" y="2651760"/>
            <a:ext cx="548640" cy="548640"/>
          </a:xfrm>
          <a:prstGeom prst="ellipse">
            <a:avLst/>
          </a:prstGeom>
          <a:solidFill>
            <a:srgbClr val="FAA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383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1">
                <a:solidFill>
                  <a:srgbClr val="022791"/>
                </a:solidFill>
                <a:latin typeface="Inter Tight"/>
              </a:defRPr>
            </a:pPr>
            <a:r>
              <a:t>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393192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9"/>
              </a:spcAft>
              <a:defRPr sz="1300" b="0">
                <a:solidFill>
                  <a:srgbClr val="262626"/>
                </a:solidFill>
                <a:latin typeface="Inter Tight"/>
              </a:defRPr>
            </a:pPr>
            <a:r>
              <a:t>Share quantifiable outcomes and the impact delivered.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0C0C0C"/>
                </a:solidFill>
                <a:latin typeface="Roboto"/>
              </a:defRPr>
            </a:pPr>
            <a:r>
              <a:t>© 2025 OpenTeams  |  openteams.com</a:t>
            </a:r>
          </a:p>
        </p:txBody>
      </p:sp>
      <p:pic>
        <p:nvPicPr>
          <p:cNvPr id="21" name="Picture 20" descr="OpenTeams-favicon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8735" y="649224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gradFill rotWithShape="1">
            <a:gsLst>
              <a:gs pos="0">
                <a:srgbClr val="022791"/>
              </a:gs>
              <a:gs pos="100000">
                <a:srgbClr val="4D75FE"/>
              </a:gs>
            </a:gsLst>
            <a:lin ang="81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0" y="914400"/>
            <a:ext cx="1371600" cy="1371600"/>
          </a:xfrm>
          <a:prstGeom prst="ellipse">
            <a:avLst/>
          </a:prstGeom>
          <a:solidFill>
            <a:srgbClr val="FAA944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1828800" cy="1828800"/>
          </a:xfrm>
          <a:prstGeom prst="ellipse">
            <a:avLst/>
          </a:prstGeom>
          <a:solidFill>
            <a:srgbClr val="FF8A69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1371600"/>
            <a:ext cx="731520" cy="731520"/>
          </a:xfrm>
          <a:prstGeom prst="ellipse">
            <a:avLst/>
          </a:prstGeom>
          <a:solidFill>
            <a:srgbClr val="4D75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Inter Tight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91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79"/>
              </a:spcAft>
              <a:defRPr sz="2200" b="0">
                <a:solidFill>
                  <a:srgbClr val="4D75FE"/>
                </a:solidFill>
                <a:latin typeface="Inter Tight"/>
              </a:defRPr>
            </a:pPr>
            <a:r>
              <a:t>Questions? Let's discuss.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15687" y="438912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22791"/>
                </a:solidFill>
                <a:latin typeface="Inter Tight"/>
              </a:defRPr>
            </a:pPr>
            <a:r>
              <a:t>Contact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59"/>
              </a:spcAft>
              <a:defRPr sz="1400" b="0">
                <a:solidFill>
                  <a:srgbClr val="FFFFFF"/>
                </a:solidFill>
                <a:latin typeface="Inter Tight"/>
              </a:defRPr>
            </a:pPr>
            <a:r>
              <a:t>hello@openteams.com  |  openteams.com</a:t>
            </a:r>
          </a:p>
        </p:txBody>
      </p:sp>
      <p:pic>
        <p:nvPicPr>
          <p:cNvPr id="10" name="Picture 9" descr="OT-new-logo-final-white-horizontal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384" y="6025896"/>
            <a:ext cx="1916926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