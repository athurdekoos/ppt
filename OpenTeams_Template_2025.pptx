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22791"/>
              </a:gs>
              <a:gs pos="100000">
                <a:srgbClr val="4D75FE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1371600"/>
            <a:ext cx="320040" cy="320040"/>
          </a:xfrm>
          <a:prstGeom prst="ellipse">
            <a:avLst/>
          </a:prstGeom>
          <a:solidFill>
            <a:srgbClr val="FAA94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828800"/>
            <a:ext cx="320040" cy="320040"/>
          </a:xfrm>
          <a:prstGeom prst="ellipse">
            <a:avLst/>
          </a:prstGeom>
          <a:solidFill>
            <a:srgbClr val="FF8A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572000"/>
            <a:ext cx="320040" cy="320040"/>
          </a:xfrm>
          <a:prstGeom prst="ellipse">
            <a:avLst/>
          </a:prstGeom>
          <a:solidFill>
            <a:srgbClr val="4D75F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3840480"/>
            <a:ext cx="320040" cy="320040"/>
          </a:xfrm>
          <a:prstGeom prst="ellipse">
            <a:avLst/>
          </a:prstGeom>
          <a:solidFill>
            <a:srgbClr val="FAA94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enTeams-favic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28800"/>
            <a:ext cx="3200400" cy="3200400"/>
          </a:xfrm>
          <a:prstGeom prst="rect">
            <a:avLst/>
          </a:prstGeom>
        </p:spPr>
      </p:pic>
      <p:pic>
        <p:nvPicPr>
          <p:cNvPr id="8" name="Picture 7" descr="OT-new-logo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"/>
            <a:ext cx="2194560" cy="575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1945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22791"/>
                </a:solidFill>
                <a:latin typeface="Inter Tight"/>
              </a:defRPr>
            </a:pPr>
            <a:r>
              <a:t>Presentation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4D75FE"/>
                </a:solidFill>
                <a:latin typeface="Inter Tight"/>
              </a:defRPr>
            </a:pPr>
            <a:r>
              <a:t>Subtitle or tagline goes here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4D75FE"/>
                </a:solidFill>
                <a:latin typeface="Inter Tight"/>
              </a:defRPr>
            </a:pPr>
            <a:r>
              <a:t>Month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0352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 Tight"/>
              </a:defRPr>
            </a:pPr>
            <a:r>
              <a:t>Get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Confidential  |  © 2025 OpenTeams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7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56032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944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9"/>
              </a:spcAft>
              <a:defRPr sz="2400" b="0">
                <a:solidFill>
                  <a:srgbClr val="4D75FE"/>
                </a:solidFill>
                <a:latin typeface="Inter Tight"/>
              </a:defRPr>
            </a:pPr>
            <a:r>
              <a:t>Brief description of this section</a:t>
            </a:r>
          </a:p>
        </p:txBody>
      </p:sp>
      <p:pic>
        <p:nvPicPr>
          <p:cNvPr id="5" name="Picture 4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17336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Introduction &amp; Context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Inter Tight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Problem Statement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Our Approach &amp; Solution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Key Results &amp; Metrics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349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Next Steps &amp;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15" name="Picture 14" descr="OpenTeams-favic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  <p:pic>
        <p:nvPicPr>
          <p:cNvPr id="16" name="Picture 15" descr="OT-new-logo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9728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Content 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  <a:r>
              <a:t>Add your key points here. The template uses generous whitespace</a:t>
            </a:r>
          </a:p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  <a:r>
              <a:t>and brand-consistent typography for a clean, modern look.</a:t>
            </a:r>
          </a:p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</a:p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  <a:r>
              <a:t>Use this layout for text-heavy slides that need a supporting visual.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212080" cy="4389120"/>
          </a:xfrm>
          <a:prstGeom prst="roundRect">
            <a:avLst>
              <a:gd name="adj" fmla="val 4629"/>
            </a:avLst>
          </a:prstGeom>
          <a:solidFill>
            <a:srgbClr val="E8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D75FE"/>
                </a:solidFill>
                <a:latin typeface="Roboto"/>
              </a:defRPr>
            </a:pPr>
            <a:r>
              <a:t>[ Visual / Image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8" name="Picture 7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9728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Two-Column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303520" cy="3657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Left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Supporting text for the first column. Use for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comparisons, features, or parallel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286000"/>
            <a:ext cx="5303520" cy="3657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Right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Supporting text for the second column.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Maintain visual balance between columns.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12" name="Picture 11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7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0" b="1">
                <a:solidFill>
                  <a:srgbClr val="4D75FE"/>
                </a:solidFill>
                <a:latin typeface="Inter Tight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A bold statement that captures</a:t>
            </a:r>
            <a:br/>
            <a:r>
              <a:t>your key message in one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1600" b="0">
                <a:solidFill>
                  <a:srgbClr val="4D75FE"/>
                </a:solidFill>
                <a:latin typeface="Inter Tight"/>
              </a:defRPr>
            </a:pPr>
            <a:r>
              <a:t>— Speaker Name, Title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228600" cy="22860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28600" cy="22860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17336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468880" cy="1463040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46888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Customer Satisfaction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468880" cy="1463040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103120"/>
            <a:ext cx="2468880" cy="54864"/>
          </a:xfrm>
          <a:prstGeom prst="rect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3.5x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ROI Improvement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03120"/>
            <a:ext cx="2468880" cy="1463040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103120"/>
            <a:ext cx="2468880" cy="54864"/>
          </a:xfrm>
          <a:prstGeom prst="rect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500+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Active Projects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103120"/>
            <a:ext cx="2468880" cy="1463040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2103120"/>
            <a:ext cx="2468880" cy="54864"/>
          </a:xfrm>
          <a:prstGeom prst="rect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Global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10789920" cy="2286000"/>
          </a:xfrm>
          <a:prstGeom prst="roundRect">
            <a:avLst>
              <a:gd name="adj" fmla="val 8888"/>
            </a:avLst>
          </a:prstGeom>
          <a:solidFill>
            <a:srgbClr val="E8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D75FE"/>
                </a:solidFill>
                <a:latin typeface="Roboto"/>
              </a:defRPr>
            </a:pPr>
            <a:r>
              <a:t>[ Chart / Data Visualization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23" name="Picture 22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468880" cy="384048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2468880"/>
            <a:ext cx="1280160" cy="128016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Team Member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Role /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area description.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103120"/>
            <a:ext cx="2468880" cy="384048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2468880"/>
            <a:ext cx="1280160" cy="1280160"/>
          </a:xfrm>
          <a:prstGeom prst="ellipse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Team Member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Role /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area description.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2468880" cy="384048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2468880"/>
            <a:ext cx="1280160" cy="128016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Team Member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Role /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area description.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103120"/>
            <a:ext cx="2468880" cy="384048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84080" y="2468880"/>
            <a:ext cx="1280160" cy="128016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Team Member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Role / Title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</a:t>
            </a:r>
          </a:p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area description.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26" name="Picture 25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Case Study: Client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3383280" cy="3657600"/>
          </a:xfrm>
          <a:prstGeom prst="roundRect">
            <a:avLst>
              <a:gd name="adj" fmla="val 600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86000"/>
            <a:ext cx="3383280" cy="64008"/>
          </a:xfrm>
          <a:prstGeom prst="rect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51760"/>
            <a:ext cx="548640" cy="54864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Describe the client's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challenge or pain point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that needed addressing.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383280" cy="3657600"/>
          </a:xfrm>
          <a:prstGeom prst="roundRect">
            <a:avLst>
              <a:gd name="adj" fmla="val 600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286000"/>
            <a:ext cx="3383280" cy="64008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2651760"/>
            <a:ext cx="548640" cy="54864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Explain the OpenTeams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approach and how the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solution was implemented.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286000"/>
            <a:ext cx="3383280" cy="3657600"/>
          </a:xfrm>
          <a:prstGeom prst="roundRect">
            <a:avLst>
              <a:gd name="adj" fmla="val 600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2286000"/>
            <a:ext cx="3383280" cy="64008"/>
          </a:xfrm>
          <a:prstGeom prst="rect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2651760"/>
            <a:ext cx="548640" cy="54864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Share quantifiable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outcomes and the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impact delivered.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21" name="Picture 20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22791"/>
              </a:gs>
              <a:gs pos="100000">
                <a:srgbClr val="4D75FE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914400"/>
            <a:ext cx="1371600" cy="1371600"/>
          </a:xfrm>
          <a:prstGeom prst="ellipse">
            <a:avLst/>
          </a:prstGeom>
          <a:solidFill>
            <a:srgbClr val="FAA94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1828800" cy="1828800"/>
          </a:xfrm>
          <a:prstGeom prst="ellipse">
            <a:avLst/>
          </a:prstGeom>
          <a:solidFill>
            <a:srgbClr val="FF8A6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1371600"/>
            <a:ext cx="731520" cy="731520"/>
          </a:xfrm>
          <a:prstGeom prst="ellipse">
            <a:avLst/>
          </a:prstGeom>
          <a:solidFill>
            <a:srgbClr val="4D75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Inter Tight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79"/>
              </a:spcAft>
              <a:defRPr sz="2200" b="0">
                <a:solidFill>
                  <a:srgbClr val="4D75FE"/>
                </a:solidFill>
                <a:latin typeface="Inter Tight"/>
              </a:defRPr>
            </a:pPr>
            <a:r>
              <a:t>Questions? Let's discuss.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15687" y="438912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22791"/>
                </a:solidFill>
                <a:latin typeface="Inter Tight"/>
              </a:defRPr>
            </a:pPr>
            <a:r>
              <a:t>Contact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9"/>
              </a:spcAft>
              <a:defRPr sz="1400" b="0">
                <a:solidFill>
                  <a:srgbClr val="FFFFFF"/>
                </a:solidFill>
                <a:latin typeface="Inter Tight"/>
              </a:defRPr>
            </a:pPr>
            <a:r>
              <a:t>hello@openteams.com  |  openteams.com</a:t>
            </a:r>
          </a:p>
        </p:txBody>
      </p:sp>
      <p:pic>
        <p:nvPicPr>
          <p:cNvPr id="10" name="Picture 9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384" y="6025896"/>
            <a:ext cx="1916926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