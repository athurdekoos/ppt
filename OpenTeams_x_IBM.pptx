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22791"/>
              </a:gs>
              <a:gs pos="100000">
                <a:srgbClr val="4D75F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penTeams-favic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3200400" cy="3200400"/>
          </a:xfrm>
          <a:prstGeom prst="rect">
            <a:avLst/>
          </a:prstGeom>
        </p:spPr>
      </p:pic>
      <p:pic>
        <p:nvPicPr>
          <p:cNvPr id="4" name="Picture 3" descr="OT-new-log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"/>
            <a:ext cx="2194560" cy="575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22791"/>
                </a:solidFill>
                <a:latin typeface="Inter Tight"/>
              </a:defRPr>
            </a:pPr>
            <a:r>
              <a:t>OpenTeams x IBM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4D75FE"/>
                </a:solidFill>
                <a:latin typeface="Inter Tight"/>
              </a:defRPr>
            </a:pPr>
            <a:r>
              <a:t>Enterprise Open Source, Supercharged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4D75FE"/>
                </a:solidFill>
                <a:latin typeface="Inter Tight"/>
              </a:defRPr>
            </a:pPr>
            <a:r>
              <a:t>February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2011680" cy="502920"/>
          </a:xfrm>
          <a:prstGeom prst="roundRect">
            <a:avLst>
              <a:gd name="adj" fmla="val 49000"/>
            </a:avLst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 Tight"/>
              </a:defRPr>
            </a:pPr>
            <a:r>
              <a:t>Get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Roboto"/>
              </a:defRPr>
            </a:pPr>
            <a:r>
              <a:t>Confidential  |  © 2026 OpenTeams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Inter Tight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Why Open Source Needs a Shepherd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30137"/>
            <a:ext cx="457200" cy="45720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Inter Tight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75857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The OpenTeams Platform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65714"/>
            <a:ext cx="457200" cy="45720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Inter Tight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31143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IBM Integration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801291"/>
            <a:ext cx="457200" cy="45720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Inter Tight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4701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Key Metrics &amp; ROI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336868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Inter Tight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825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Customer Story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872445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Inter Tight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18165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Our Team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408022"/>
            <a:ext cx="457200" cy="45720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Inter Tight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45374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Roboto"/>
              </a:defRPr>
            </a:pPr>
            <a:r>
              <a:t>© 2026 OpenTeams  |  openteams.com</a:t>
            </a:r>
          </a:p>
        </p:txBody>
      </p:sp>
      <p:pic>
        <p:nvPicPr>
          <p:cNvPr id="19" name="Picture 18" descr="OpenTeams-favic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  <p:pic>
        <p:nvPicPr>
          <p:cNvPr id="20" name="Picture 19" descr="OT-new-log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The Open Source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Every enterprise runs on open source, yet nobody knows who's minding the llamas.</a:t>
            </a:r>
          </a:p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Packages multiply like rabbits in a server farm.</a:t>
            </a:r>
          </a:p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Compliance officers weep softly into their spreadsheets.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212080" cy="4389120"/>
          </a:xfrm>
          <a:prstGeom prst="roundRect">
            <a:avLst>
              <a:gd name="adj" fmla="val 3472"/>
            </a:avLst>
          </a:prstGeom>
          <a:solidFill>
            <a:srgbClr val="E8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D75FE"/>
                </a:solidFill>
                <a:latin typeface="Roboto"/>
              </a:defRPr>
            </a:pPr>
            <a:r>
              <a:t>[ Tangled dependency graph with cartoon llamas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Roboto"/>
              </a:defRPr>
            </a:pPr>
            <a:r>
              <a:t>© 2026 OpenTeams  |  openteams.com</a:t>
            </a:r>
          </a:p>
        </p:txBody>
      </p:sp>
      <p:pic>
        <p:nvPicPr>
          <p:cNvPr id="8" name="Picture 7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7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OpenTeams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944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2400" b="0">
                <a:solidFill>
                  <a:srgbClr val="4D75FE"/>
                </a:solidFill>
                <a:latin typeface="Inter Tight"/>
              </a:defRPr>
            </a:pPr>
            <a:r>
              <a:t>Wrangling chaos since 2020</a:t>
            </a:r>
          </a:p>
        </p:txBody>
      </p:sp>
      <p:pic>
        <p:nvPicPr>
          <p:cNvPr id="5" name="Picture 4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17336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Without vs. With OpenTeams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03520" cy="36576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Without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Developers Googling error messages at 3 AM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Security patches applied 'eventually'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Licensing? We'll deal with it later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Hope-driven uptime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86000"/>
            <a:ext cx="5303520" cy="36576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With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Expert maintainers on speed-dial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Proactive vulnerability patching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Full license compliance dashboard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SLAs backed by actual humans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Roboto"/>
              </a:defRPr>
            </a:pPr>
            <a:r>
              <a:t>© 2026 OpenTeams  |  openteams.com</a:t>
            </a:r>
          </a:p>
        </p:txBody>
      </p:sp>
      <p:pic>
        <p:nvPicPr>
          <p:cNvPr id="12" name="Picture 11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Numbers That Spark Joy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46888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99.97%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Uptime (yes, really)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468880" cy="54864"/>
          </a:xfrm>
          <a:prstGeom prst="rect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42x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Faster Than Googling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103120"/>
            <a:ext cx="2468880" cy="54864"/>
          </a:xfrm>
          <a:prstGeom prst="rect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Reduction in Developer Tears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2103120"/>
            <a:ext cx="2468880" cy="54864"/>
          </a:xfrm>
          <a:prstGeom prst="rect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Coffee Cups Saved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10789920" cy="2286000"/>
          </a:xfrm>
          <a:prstGeom prst="roundRect">
            <a:avLst>
              <a:gd name="adj" fmla="val 6666"/>
            </a:avLst>
          </a:prstGeom>
          <a:solidFill>
            <a:srgbClr val="E8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D75FE"/>
                </a:solidFill>
                <a:latin typeface="Roboto"/>
              </a:defRPr>
            </a:pPr>
            <a:r>
              <a:t>[ Chart / Data Visualization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Roboto"/>
              </a:defRPr>
            </a:pPr>
            <a:r>
              <a:t>© 2026 OpenTeams  |  openteams.com</a:t>
            </a:r>
          </a:p>
        </p:txBody>
      </p:sp>
      <p:pic>
        <p:nvPicPr>
          <p:cNvPr id="23" name="Picture 22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7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0" b="1">
                <a:solidFill>
                  <a:srgbClr val="4D75FE"/>
                </a:solidFill>
                <a:latin typeface="Inter Tight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We used to mass-email maintainers</a:t>
            </a:r>
            <a:br/>
            <a:r>
              <a:t>and pray. Now we just call OpenTeams.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600" b="0">
                <a:solidFill>
                  <a:srgbClr val="4D75FE"/>
                </a:solidFill>
                <a:latin typeface="Inter Tight"/>
              </a:defRPr>
            </a:pPr>
            <a:r>
              <a:t>— A Very Relieved VP of Engineering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28600" cy="22860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28600" cy="22860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17336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Case Study: Definitely Not IBM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86000"/>
            <a:ext cx="3383280" cy="64008"/>
          </a:xfrm>
          <a:prstGeom prst="rect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51760"/>
            <a:ext cx="548640" cy="54864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A large technology company (blue logo, nice hats) had 14,000 unmanaged open source dependencies across 800 microservices.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286000"/>
            <a:ext cx="3383280" cy="64008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651760"/>
            <a:ext cx="548640" cy="54864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OpenTeams deployed unified support coverage, automated license scanning, and a dedicated maintainer hotline with 15-minute response SLA.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286000"/>
            <a:ext cx="3383280" cy="64008"/>
          </a:xfrm>
          <a:prstGeom prst="rect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2651760"/>
            <a:ext cx="548640" cy="54864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85% fewer CVE firefights. Compliance audit completed in 2 days instead of 2 months. Developers started sleeping again.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Roboto"/>
              </a:defRPr>
            </a:pPr>
            <a:r>
              <a:t>© 2026 OpenTeams  |  openteams.com</a:t>
            </a:r>
          </a:p>
        </p:txBody>
      </p:sp>
      <p:pic>
        <p:nvPicPr>
          <p:cNvPr id="21" name="Picture 20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The Humans Behind the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468880"/>
            <a:ext cx="1280160" cy="128016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Dr. Opensourcian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Chief Llama Wrangler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Has committed to more repos than anyone should admit.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468880"/>
            <a:ext cx="1280160" cy="128016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Patches McGee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Head of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Finds vulnerabilities before they find you.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2468880"/>
            <a:ext cx="1280160" cy="128016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Linus Adjacent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Platform Architect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Built three operating systems by accident.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Roboto"/>
              </a:defRPr>
            </a:pPr>
            <a:r>
              <a:t>© 2026 OpenTeams  |  openteams.com</a:t>
            </a:r>
          </a:p>
        </p:txBody>
      </p:sp>
      <p:pic>
        <p:nvPicPr>
          <p:cNvPr id="21" name="Picture 20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22791"/>
              </a:gs>
              <a:gs pos="100000">
                <a:srgbClr val="4D75F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914400"/>
            <a:ext cx="1371600" cy="1371600"/>
          </a:xfrm>
          <a:prstGeom prst="ellipse">
            <a:avLst/>
          </a:prstGeom>
          <a:solidFill>
            <a:srgbClr val="FAA94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FF8A6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1371600"/>
            <a:ext cx="731520" cy="731520"/>
          </a:xfrm>
          <a:prstGeom prst="ellipse">
            <a:avLst/>
          </a:prstGeom>
          <a:solidFill>
            <a:srgbClr val="4D75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 Tight"/>
              </a:defRPr>
            </a:pPr>
            <a:r>
              <a:t>Let's Build Something Blue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79"/>
              </a:spcAft>
              <a:defRPr sz="2200" b="0">
                <a:solidFill>
                  <a:srgbClr val="4D75FE"/>
                </a:solidFill>
                <a:latin typeface="Inter Tight"/>
              </a:defRPr>
            </a:pPr>
            <a:r>
              <a:t>IBM + OpenTeams = Enterprise Open Source Nirvana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5687" y="4389120"/>
            <a:ext cx="2560320" cy="502920"/>
          </a:xfrm>
          <a:prstGeom prst="roundRect">
            <a:avLst>
              <a:gd name="adj" fmla="val 4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22791"/>
                </a:solidFill>
                <a:latin typeface="Inter Tight"/>
              </a:defRPr>
            </a:pPr>
            <a:r>
              <a:t>Start the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9"/>
              </a:spcAft>
              <a:defRPr sz="1400" b="0">
                <a:solidFill>
                  <a:srgbClr val="FFFFFF"/>
                </a:solidFill>
                <a:latin typeface="Inter Tight"/>
              </a:defRPr>
            </a:pPr>
            <a:r>
              <a:t>hello@openteams.com  |  openteams.com</a:t>
            </a:r>
          </a:p>
        </p:txBody>
      </p:sp>
      <p:pic>
        <p:nvPicPr>
          <p:cNvPr id="10" name="Picture 9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84" y="6025896"/>
            <a:ext cx="1916926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