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22791"/>
              </a:gs>
              <a:gs pos="100000">
                <a:srgbClr val="4D75FE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penTeams-favicon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28800"/>
            <a:ext cx="3200400" cy="3200400"/>
          </a:xfrm>
          <a:prstGeom prst="rect">
            <a:avLst/>
          </a:prstGeom>
        </p:spPr>
      </p:pic>
      <p:pic>
        <p:nvPicPr>
          <p:cNvPr id="4" name="Picture 3" descr="OT-new-logo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9184"/>
            <a:ext cx="2194560" cy="5757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22791"/>
                </a:solidFill>
                <a:latin typeface="Inter Tight"/>
              </a:defRPr>
            </a:pPr>
            <a:r>
              <a:t>OpenTeams x IBM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0">
                <a:solidFill>
                  <a:srgbClr val="4D75FE"/>
                </a:solidFill>
                <a:latin typeface="Inter Tight"/>
              </a:defRPr>
            </a:pPr>
            <a:r>
              <a:t>Enterprise Open Source, Supercharged</a:t>
            </a:r>
          </a:p>
          <a:p>
            <a:pPr algn="l">
              <a:spcAft>
                <a:spcPts val="799"/>
              </a:spcAft>
              <a:defRPr sz="2000" b="0">
                <a:solidFill>
                  <a:srgbClr val="4D75FE"/>
                </a:solidFill>
                <a:latin typeface="Inter Tight"/>
              </a:defRPr>
            </a:pPr>
            <a:r>
              <a:t>February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303520"/>
            <a:ext cx="2011680" cy="502920"/>
          </a:xfrm>
          <a:prstGeom prst="roundRect">
            <a:avLst>
              <a:gd name="adj" fmla="val 49000"/>
            </a:avLst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Inter Tight"/>
              </a:defRPr>
            </a:pPr>
            <a:r>
              <a:t>Get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Confidential  |  © 2026 OpenTeams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240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Why Open Source Needs a Shepherd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30137"/>
            <a:ext cx="457200" cy="457200"/>
          </a:xfrm>
          <a:prstGeom prst="ellipse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Inter Tight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75857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The OpenTeams Platform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65714"/>
            <a:ext cx="457200" cy="45720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143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IBM Integration Points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01291"/>
            <a:ext cx="457200" cy="457200"/>
          </a:xfrm>
          <a:prstGeom prst="ellipse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847011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Key Metrics &amp; ROI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36868"/>
            <a:ext cx="457200" cy="45720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38258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Customer Story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872445"/>
            <a:ext cx="457200" cy="457200"/>
          </a:xfrm>
          <a:prstGeom prst="ellipse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Inter Tight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91816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Our Team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408022"/>
            <a:ext cx="457200" cy="45720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45374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Next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19" name="Picture 18" descr="OpenTeams-favicon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  <p:pic>
        <p:nvPicPr>
          <p:cNvPr id="20" name="Picture 19" descr="OT-new-logo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9728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The Open Source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99"/>
              </a:spcAft>
              <a:defRPr sz="1500" b="0">
                <a:solidFill>
                  <a:srgbClr val="262626"/>
                </a:solidFill>
                <a:latin typeface="Inter Tight"/>
              </a:defRPr>
            </a:pPr>
            <a:r>
              <a:t>Every enterprise runs on open source, yet nobody knows who's minding the llamas.</a:t>
            </a:r>
          </a:p>
          <a:p>
            <a:pPr algn="l">
              <a:spcAft>
                <a:spcPts val="599"/>
              </a:spcAft>
              <a:defRPr sz="1500" b="0">
                <a:solidFill>
                  <a:srgbClr val="262626"/>
                </a:solidFill>
                <a:latin typeface="Inter Tight"/>
              </a:defRPr>
            </a:pPr>
            <a:r>
              <a:t>Packages multiply like rabbits in a server farm.</a:t>
            </a:r>
          </a:p>
          <a:p>
            <a:pPr algn="l">
              <a:spcAft>
                <a:spcPts val="599"/>
              </a:spcAft>
              <a:defRPr sz="1500" b="0">
                <a:solidFill>
                  <a:srgbClr val="262626"/>
                </a:solidFill>
                <a:latin typeface="Inter Tight"/>
              </a:defRPr>
            </a:pPr>
            <a:r>
              <a:t>Compliance officers weep softly into their spreadsheets.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5212080" cy="4389120"/>
          </a:xfrm>
          <a:prstGeom prst="roundRect">
            <a:avLst>
              <a:gd name="adj" fmla="val 3472"/>
            </a:avLst>
          </a:prstGeom>
          <a:solidFill>
            <a:srgbClr val="E8ED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4D75FE"/>
                </a:solidFill>
                <a:latin typeface="Roboto"/>
              </a:defRPr>
            </a:pPr>
            <a:r>
              <a:t>[ Tangled dependency graph with cartoon llamas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8" name="Picture 7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27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56032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Inter Tight"/>
              </a:defRPr>
            </a:pPr>
            <a:r>
              <a:t>The OpenTeams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110944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59"/>
              </a:spcAft>
              <a:defRPr sz="2400" b="0">
                <a:solidFill>
                  <a:srgbClr val="4D75FE"/>
                </a:solidFill>
                <a:latin typeface="Inter Tight"/>
              </a:defRPr>
            </a:pPr>
            <a:r>
              <a:t>Wrangling chaos since 2020</a:t>
            </a:r>
          </a:p>
        </p:txBody>
      </p:sp>
      <p:pic>
        <p:nvPicPr>
          <p:cNvPr id="5" name="Picture 4" descr="OT-new-logo-final-white-horizontal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117336"/>
            <a:ext cx="15683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9728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Without vs. With OpenTeams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03520" cy="36576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Without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Developers Googling error messages at 3 AM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Security patches applied 'eventually'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Licensing? We'll deal with it later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Hope-driven uptime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286000"/>
            <a:ext cx="5303520" cy="36576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With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0175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Expert maintainers on speed-dial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Proactive vulnerability patching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Full license compliance dashboard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SLAs backed by actual humans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12" name="Picture 11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0584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Numbers That Spark Joy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46888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99.97%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Uptime (yes, really)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2103120"/>
            <a:ext cx="2468880" cy="54864"/>
          </a:xfrm>
          <a:prstGeom prst="rect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42x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Faster Than Googling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103120"/>
            <a:ext cx="2468880" cy="54864"/>
          </a:xfrm>
          <a:prstGeom prst="rect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73%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Reduction in Developer Tears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5400" y="2103120"/>
            <a:ext cx="2468880" cy="54864"/>
          </a:xfrm>
          <a:prstGeom prst="rect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Coffee Cups Saved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31920"/>
            <a:ext cx="10789920" cy="2286000"/>
          </a:xfrm>
          <a:prstGeom prst="roundRect">
            <a:avLst>
              <a:gd name="adj" fmla="val 6666"/>
            </a:avLst>
          </a:prstGeom>
          <a:solidFill>
            <a:srgbClr val="E8ED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4D75FE"/>
                </a:solidFill>
                <a:latin typeface="Roboto"/>
              </a:defRPr>
            </a:pPr>
            <a:r>
              <a:t>[ Chart / Data Visualization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23" name="Picture 22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27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0" b="1">
                <a:solidFill>
                  <a:srgbClr val="4D75FE"/>
                </a:solidFill>
                <a:latin typeface="Inter Tight"/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5603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Inter Tight"/>
              </a:defRPr>
            </a:pPr>
            <a:r>
              <a:t>We used to mass-email maintainers</a:t>
            </a:r>
            <a:br/>
            <a:r>
              <a:t>and pray. Now we just call OpenTeams.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39"/>
              </a:spcAft>
              <a:defRPr sz="1600" b="0">
                <a:solidFill>
                  <a:srgbClr val="4D75FE"/>
                </a:solidFill>
                <a:latin typeface="Inter Tight"/>
              </a:defRPr>
            </a:pPr>
            <a:r>
              <a:t>— A Very Relieved VP of Engineering</a:t>
            </a:r>
          </a:p>
        </p:txBody>
      </p:sp>
      <p:sp>
        <p:nvSpPr>
          <p:cNvPr id="5" name="Oval 4"/>
          <p:cNvSpPr/>
          <p:nvPr/>
        </p:nvSpPr>
        <p:spPr>
          <a:xfrm>
            <a:off x="10515600" y="5029200"/>
            <a:ext cx="228600" cy="22860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4572000"/>
            <a:ext cx="228600" cy="228600"/>
          </a:xfrm>
          <a:prstGeom prst="ellipse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T-new-logo-final-white-horizontal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117336"/>
            <a:ext cx="15683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0584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Case Study: Definitely Not IBM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3383280" cy="36576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86000"/>
            <a:ext cx="3383280" cy="64008"/>
          </a:xfrm>
          <a:prstGeom prst="rect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51760"/>
            <a:ext cx="548640" cy="548640"/>
          </a:xfrm>
          <a:prstGeom prst="ellipse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83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19"/>
              </a:spcAft>
              <a:defRPr sz="1300" b="0">
                <a:solidFill>
                  <a:srgbClr val="262626"/>
                </a:solidFill>
                <a:latin typeface="Inter Tight"/>
              </a:defRPr>
            </a:pPr>
            <a:r>
              <a:t>A large technology company (blue logo, nice hats) had 14,000 unmanaged open source dependencies across 800 microservices.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36576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286000"/>
            <a:ext cx="3383280" cy="64008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09160" y="2651760"/>
            <a:ext cx="548640" cy="54864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383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9319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19"/>
              </a:spcAft>
              <a:defRPr sz="1300" b="0">
                <a:solidFill>
                  <a:srgbClr val="262626"/>
                </a:solidFill>
                <a:latin typeface="Inter Tight"/>
              </a:defRPr>
            </a:pPr>
            <a:r>
              <a:t>OpenTeams deployed unified support coverage, automated license scanning, and a dedicated maintainer hotline with 15-minute response SLA.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286000"/>
            <a:ext cx="3383280" cy="36576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2286000"/>
            <a:ext cx="3383280" cy="64008"/>
          </a:xfrm>
          <a:prstGeom prst="rect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58200" y="2651760"/>
            <a:ext cx="548640" cy="54864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383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9319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19"/>
              </a:spcAft>
              <a:defRPr sz="1300" b="0">
                <a:solidFill>
                  <a:srgbClr val="262626"/>
                </a:solidFill>
                <a:latin typeface="Inter Tight"/>
              </a:defRPr>
            </a:pPr>
            <a:r>
              <a:t>85% fewer CVE firefights. Compliance audit completed in 2 days instead of 2 months. Developers started sleeping again.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21" name="Picture 20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0584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The Humans Behind the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2468880" cy="3840480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2468880"/>
            <a:ext cx="1280160" cy="128016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39"/>
              </a:spcAft>
              <a:defRPr sz="1600" b="1">
                <a:solidFill>
                  <a:srgbClr val="022791"/>
                </a:solidFill>
                <a:latin typeface="Inter Tight"/>
              </a:defRPr>
            </a:pPr>
            <a:r>
              <a:t>Dr. Opensourcian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79"/>
              </a:spcAft>
              <a:defRPr sz="1200" b="0">
                <a:solidFill>
                  <a:srgbClr val="4D75FE"/>
                </a:solidFill>
                <a:latin typeface="Inter Tight"/>
              </a:defRPr>
            </a:pPr>
            <a:r>
              <a:t>Chief Llama Wrangler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39"/>
              </a:spcAft>
              <a:defRPr sz="1100" b="0">
                <a:solidFill>
                  <a:srgbClr val="262626"/>
                </a:solidFill>
                <a:latin typeface="Inter Tight"/>
              </a:defRPr>
            </a:pPr>
            <a:r>
              <a:t>Has committed to more repos than anyone should admit.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103120"/>
            <a:ext cx="2468880" cy="3840480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06240" y="2468880"/>
            <a:ext cx="1280160" cy="1280160"/>
          </a:xfrm>
          <a:prstGeom prst="ellipse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39"/>
              </a:spcAft>
              <a:defRPr sz="1600" b="1">
                <a:solidFill>
                  <a:srgbClr val="022791"/>
                </a:solidFill>
                <a:latin typeface="Inter Tight"/>
              </a:defRPr>
            </a:pPr>
            <a:r>
              <a:t>Patches McGee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480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79"/>
              </a:spcAft>
              <a:defRPr sz="1200" b="0">
                <a:solidFill>
                  <a:srgbClr val="4D75FE"/>
                </a:solidFill>
                <a:latin typeface="Inter Tight"/>
              </a:defRPr>
            </a:pPr>
            <a:r>
              <a:t>Head of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39"/>
              </a:spcAft>
              <a:defRPr sz="1100" b="0">
                <a:solidFill>
                  <a:srgbClr val="262626"/>
                </a:solidFill>
                <a:latin typeface="Inter Tight"/>
              </a:defRPr>
            </a:pPr>
            <a:r>
              <a:t>Finds vulnerabilities before they find you.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03120"/>
            <a:ext cx="2468880" cy="3840480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95160" y="2468880"/>
            <a:ext cx="1280160" cy="128016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023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39"/>
              </a:spcAft>
              <a:defRPr sz="1600" b="1">
                <a:solidFill>
                  <a:srgbClr val="022791"/>
                </a:solidFill>
                <a:latin typeface="Inter Tight"/>
              </a:defRPr>
            </a:pPr>
            <a:r>
              <a:t>Linus Adjacent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480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79"/>
              </a:spcAft>
              <a:defRPr sz="1200" b="0">
                <a:solidFill>
                  <a:srgbClr val="4D75FE"/>
                </a:solidFill>
                <a:latin typeface="Inter Tight"/>
              </a:defRPr>
            </a:pPr>
            <a:r>
              <a:t>Platform Architect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39"/>
              </a:spcAft>
              <a:defRPr sz="1100" b="0">
                <a:solidFill>
                  <a:srgbClr val="262626"/>
                </a:solidFill>
                <a:latin typeface="Inter Tight"/>
              </a:defRPr>
            </a:pPr>
            <a:r>
              <a:t>Built three operating systems by accident.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21" name="Picture 20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22791"/>
              </a:gs>
              <a:gs pos="100000">
                <a:srgbClr val="4D75FE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914400"/>
            <a:ext cx="1371600" cy="1371600"/>
          </a:xfrm>
          <a:prstGeom prst="ellipse">
            <a:avLst/>
          </a:prstGeom>
          <a:solidFill>
            <a:srgbClr val="FAA94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1828800" cy="1828800"/>
          </a:xfrm>
          <a:prstGeom prst="ellipse">
            <a:avLst/>
          </a:prstGeom>
          <a:solidFill>
            <a:srgbClr val="FF8A6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1371600"/>
            <a:ext cx="731520" cy="731520"/>
          </a:xfrm>
          <a:prstGeom prst="ellipse">
            <a:avLst/>
          </a:prstGeom>
          <a:solidFill>
            <a:srgbClr val="4D75F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Inter Tight"/>
              </a:defRPr>
            </a:pPr>
            <a:r>
              <a:t>Let's Build Something Blue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79"/>
              </a:spcAft>
              <a:defRPr sz="2200" b="0">
                <a:solidFill>
                  <a:srgbClr val="4D75FE"/>
                </a:solidFill>
                <a:latin typeface="Inter Tight"/>
              </a:defRPr>
            </a:pPr>
            <a:r>
              <a:t>IBM + OpenTeams = Enterprise Open Source Nirvana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4389120"/>
            <a:ext cx="2560320" cy="502920"/>
          </a:xfrm>
          <a:prstGeom prst="roundRect">
            <a:avLst>
              <a:gd name="adj" fmla="val 4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22791"/>
                </a:solidFill>
                <a:latin typeface="Inter Tight"/>
              </a:defRPr>
            </a:pPr>
            <a:r>
              <a:t>Start the Conversation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59"/>
              </a:spcAft>
              <a:defRPr sz="1400" b="0">
                <a:solidFill>
                  <a:srgbClr val="FFFFFF"/>
                </a:solidFill>
                <a:latin typeface="Inter Tight"/>
              </a:defRPr>
            </a:pPr>
            <a:r>
              <a:t>hello@openteams.com  |  openteams.com</a:t>
            </a:r>
          </a:p>
        </p:txBody>
      </p:sp>
      <p:pic>
        <p:nvPicPr>
          <p:cNvPr id="10" name="Picture 9" descr="OT-new-logo-final-white-horizontal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384" y="6025896"/>
            <a:ext cx="1916926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