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0"/>
            <a:ext cx="5333695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022791"/>
              </a:gs>
              <a:gs pos="100000">
                <a:srgbClr val="4D75FE"/>
              </a:gs>
            </a:gsLst>
            <a:lin ang="81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8079" y="1371600"/>
            <a:ext cx="320040" cy="320040"/>
          </a:xfrm>
          <a:prstGeom prst="ellipse">
            <a:avLst/>
          </a:prstGeom>
          <a:solidFill>
            <a:srgbClr val="FAA944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1828800"/>
            <a:ext cx="320040" cy="320040"/>
          </a:xfrm>
          <a:prstGeom prst="ellipse">
            <a:avLst/>
          </a:prstGeom>
          <a:solidFill>
            <a:srgbClr val="FF8A69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46720" y="4572000"/>
            <a:ext cx="320040" cy="320040"/>
          </a:xfrm>
          <a:prstGeom prst="ellipse">
            <a:avLst/>
          </a:prstGeom>
          <a:solidFill>
            <a:srgbClr val="4D75FE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0" y="3840480"/>
            <a:ext cx="320040" cy="320040"/>
          </a:xfrm>
          <a:prstGeom prst="ellipse">
            <a:avLst/>
          </a:prstGeom>
          <a:solidFill>
            <a:srgbClr val="FAA944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enTeams-favicon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828800"/>
            <a:ext cx="3200400" cy="3200400"/>
          </a:xfrm>
          <a:prstGeom prst="rect">
            <a:avLst/>
          </a:prstGeom>
        </p:spPr>
      </p:pic>
      <p:pic>
        <p:nvPicPr>
          <p:cNvPr id="8" name="Picture 7" descr="OT-new-logo-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9184"/>
            <a:ext cx="2194560" cy="5757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219456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22791"/>
                </a:solidFill>
                <a:latin typeface="Inter Tight"/>
              </a:defRPr>
            </a:pPr>
            <a:r>
              <a:t>OpenTeams x IBM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99"/>
              </a:spcAft>
              <a:defRPr sz="2000" b="0">
                <a:solidFill>
                  <a:srgbClr val="4D75FE"/>
                </a:solidFill>
                <a:latin typeface="Inter Tight"/>
              </a:defRPr>
            </a:pPr>
            <a:r>
              <a:t>Enterprise Open Source, Supercharged</a:t>
            </a:r>
          </a:p>
          <a:p>
            <a:pPr algn="l">
              <a:spcAft>
                <a:spcPts val="799"/>
              </a:spcAft>
              <a:defRPr sz="2000" b="0">
                <a:solidFill>
                  <a:srgbClr val="4D75FE"/>
                </a:solidFill>
                <a:latin typeface="Inter Tight"/>
              </a:defRPr>
            </a:pPr>
            <a:r>
              <a:t>February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303520"/>
            <a:ext cx="2011680" cy="502920"/>
          </a:xfrm>
          <a:prstGeom prst="roundRect">
            <a:avLst>
              <a:gd name="adj" fmla="val 49000"/>
            </a:avLst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Inter Tight"/>
              </a:defRPr>
            </a:pPr>
            <a:r>
              <a:t>Get Started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000000"/>
                </a:solidFill>
                <a:latin typeface="Roboto"/>
              </a:defRPr>
            </a:pPr>
            <a:r>
              <a:t>Confidential  |  © 2026 OpenTeams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731520" cy="54864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22791"/>
                </a:solidFill>
                <a:latin typeface="Inter Tight"/>
              </a:defRPr>
            </a:pPr>
            <a:r>
              <a:t>Agenda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  <a:latin typeface="Inter Tight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240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19"/>
              </a:spcAft>
              <a:defRPr sz="1800" b="0">
                <a:solidFill>
                  <a:srgbClr val="262626"/>
                </a:solidFill>
                <a:latin typeface="Inter Tight"/>
              </a:defRPr>
            </a:pPr>
            <a:r>
              <a:t>Why Open Source Needs a Shepherd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730137"/>
            <a:ext cx="457200" cy="457200"/>
          </a:xfrm>
          <a:prstGeom prst="ellipse">
            <a:avLst/>
          </a:prstGeom>
          <a:solidFill>
            <a:srgbClr val="022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Inter Tight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775857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19"/>
              </a:spcAft>
              <a:defRPr sz="1800" b="0">
                <a:solidFill>
                  <a:srgbClr val="262626"/>
                </a:solidFill>
                <a:latin typeface="Inter Tight"/>
              </a:defRPr>
            </a:pPr>
            <a:r>
              <a:t>The OpenTeams Platform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65714"/>
            <a:ext cx="457200" cy="457200"/>
          </a:xfrm>
          <a:prstGeom prst="ellipse">
            <a:avLst/>
          </a:prstGeom>
          <a:solidFill>
            <a:srgbClr val="FAA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  <a:latin typeface="Inter Tight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31143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19"/>
              </a:spcAft>
              <a:defRPr sz="1800" b="0">
                <a:solidFill>
                  <a:srgbClr val="262626"/>
                </a:solidFill>
                <a:latin typeface="Inter Tight"/>
              </a:defRPr>
            </a:pPr>
            <a:r>
              <a:t>IBM Integration Points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801291"/>
            <a:ext cx="457200" cy="457200"/>
          </a:xfrm>
          <a:prstGeom prst="ellipse">
            <a:avLst/>
          </a:prstGeom>
          <a:solidFill>
            <a:srgbClr val="FF8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  <a:latin typeface="Inter Tight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847011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19"/>
              </a:spcAft>
              <a:defRPr sz="1800" b="0">
                <a:solidFill>
                  <a:srgbClr val="262626"/>
                </a:solidFill>
                <a:latin typeface="Inter Tight"/>
              </a:defRPr>
            </a:pPr>
            <a:r>
              <a:t>Key Metrics &amp; ROI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336868"/>
            <a:ext cx="457200" cy="457200"/>
          </a:xfrm>
          <a:prstGeom prst="ellipse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  <a:latin typeface="Inter Tight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38258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19"/>
              </a:spcAft>
              <a:defRPr sz="1800" b="0">
                <a:solidFill>
                  <a:srgbClr val="262626"/>
                </a:solidFill>
                <a:latin typeface="Inter Tight"/>
              </a:defRPr>
            </a:pPr>
            <a:r>
              <a:t>Customer Story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872445"/>
            <a:ext cx="457200" cy="457200"/>
          </a:xfrm>
          <a:prstGeom prst="ellipse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0000"/>
                </a:solidFill>
                <a:latin typeface="Inter Tight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918165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19"/>
              </a:spcAft>
              <a:defRPr sz="1800" b="0">
                <a:solidFill>
                  <a:srgbClr val="262626"/>
                </a:solidFill>
                <a:latin typeface="Inter Tight"/>
              </a:defRPr>
            </a:pPr>
            <a:r>
              <a:t>Our Team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408022"/>
            <a:ext cx="457200" cy="457200"/>
          </a:xfrm>
          <a:prstGeom prst="ellipse">
            <a:avLst/>
          </a:prstGeom>
          <a:solidFill>
            <a:srgbClr val="022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Inter Tight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545374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19"/>
              </a:spcAft>
              <a:defRPr sz="1800" b="0">
                <a:solidFill>
                  <a:srgbClr val="262626"/>
                </a:solidFill>
                <a:latin typeface="Inter Tight"/>
              </a:defRPr>
            </a:pPr>
            <a:r>
              <a:t>Next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000000"/>
                </a:solidFill>
                <a:latin typeface="Roboto"/>
              </a:defRPr>
            </a:pPr>
            <a:r>
              <a:t>© 2026 OpenTeams  |  openteams.com</a:t>
            </a:r>
          </a:p>
        </p:txBody>
      </p:sp>
      <p:pic>
        <p:nvPicPr>
          <p:cNvPr id="19" name="Picture 18" descr="OpenTeams-favicon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492240"/>
            <a:ext cx="274320" cy="274320"/>
          </a:xfrm>
          <a:prstGeom prst="rect">
            <a:avLst/>
          </a:prstGeom>
        </p:spPr>
      </p:pic>
      <p:pic>
        <p:nvPicPr>
          <p:cNvPr id="20" name="Picture 19" descr="OT-new-logo-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9184"/>
            <a:ext cx="1568394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T-new-logo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"/>
            <a:ext cx="1568394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1097280"/>
            <a:ext cx="731520" cy="54864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22791"/>
                </a:solidFill>
                <a:latin typeface="Inter Tight"/>
              </a:defRPr>
            </a:pPr>
            <a:r>
              <a:t>The Open Source Paradox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99"/>
              </a:spcAft>
              <a:defRPr sz="1500" b="0">
                <a:solidFill>
                  <a:srgbClr val="262626"/>
                </a:solidFill>
                <a:latin typeface="Inter Tight"/>
              </a:defRPr>
            </a:pPr>
            <a:r>
              <a:t>Every enterprise runs on open source, yet nobody knows who's minding the llamas.</a:t>
            </a:r>
          </a:p>
          <a:p>
            <a:pPr algn="l">
              <a:spcAft>
                <a:spcPts val="599"/>
              </a:spcAft>
              <a:defRPr sz="1500" b="0">
                <a:solidFill>
                  <a:srgbClr val="262626"/>
                </a:solidFill>
                <a:latin typeface="Inter Tight"/>
              </a:defRPr>
            </a:pPr>
            <a:r>
              <a:t>Packages multiply like rabbits in a server farm.</a:t>
            </a:r>
          </a:p>
          <a:p>
            <a:pPr algn="l">
              <a:spcAft>
                <a:spcPts val="599"/>
              </a:spcAft>
              <a:defRPr sz="1500" b="0">
                <a:solidFill>
                  <a:srgbClr val="262626"/>
                </a:solidFill>
                <a:latin typeface="Inter Tight"/>
              </a:defRPr>
            </a:pPr>
            <a:r>
              <a:t>Compliance officers weep softly into their spreadsheets.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280160"/>
            <a:ext cx="5212080" cy="4389120"/>
          </a:xfrm>
          <a:prstGeom prst="roundRect">
            <a:avLst>
              <a:gd name="adj" fmla="val 3472"/>
            </a:avLst>
          </a:prstGeom>
          <a:solidFill>
            <a:srgbClr val="E8ED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4D75FE"/>
                </a:solidFill>
                <a:latin typeface="Roboto"/>
              </a:defRPr>
            </a:pPr>
            <a:r>
              <a:t>[ Tangled dependency graph with cartoon llamas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000000"/>
                </a:solidFill>
                <a:latin typeface="Roboto"/>
              </a:defRPr>
            </a:pPr>
            <a:r>
              <a:t>© 2026 OpenTeams  |  openteams.com</a:t>
            </a:r>
          </a:p>
        </p:txBody>
      </p:sp>
      <p:pic>
        <p:nvPicPr>
          <p:cNvPr id="8" name="Picture 7" descr="OpenTeams-favicon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49224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279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560320"/>
            <a:ext cx="731520" cy="54864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Inter Tight"/>
              </a:defRPr>
            </a:pPr>
            <a:r>
              <a:t>The OpenTeams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0"/>
            <a:ext cx="1109441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59"/>
              </a:spcAft>
              <a:defRPr sz="2400" b="0">
                <a:solidFill>
                  <a:srgbClr val="4D75FE"/>
                </a:solidFill>
                <a:latin typeface="Inter Tight"/>
              </a:defRPr>
            </a:pPr>
            <a:r>
              <a:t>Wrangling chaos since 2020</a:t>
            </a:r>
          </a:p>
        </p:txBody>
      </p:sp>
      <p:pic>
        <p:nvPicPr>
          <p:cNvPr id="5" name="Picture 4" descr="OT-new-logo-final-white-horizontal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117336"/>
            <a:ext cx="1568394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T-new-logo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"/>
            <a:ext cx="1568394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1097280"/>
            <a:ext cx="731520" cy="54864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22791"/>
                </a:solidFill>
                <a:latin typeface="Inter Tight"/>
              </a:defRPr>
            </a:pPr>
            <a:r>
              <a:t>Without vs. With OpenTeams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5303520" cy="3657600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99"/>
              </a:spcAft>
              <a:defRPr sz="2000" b="1">
                <a:solidFill>
                  <a:srgbClr val="022791"/>
                </a:solidFill>
                <a:latin typeface="Inter Tight"/>
              </a:defRPr>
            </a:pPr>
            <a:r>
              <a:t>Without 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59"/>
              </a:spcAft>
              <a:defRPr sz="1400" b="0">
                <a:solidFill>
                  <a:srgbClr val="262626"/>
                </a:solidFill>
                <a:latin typeface="Inter Tight"/>
              </a:defRPr>
            </a:pPr>
            <a:r>
              <a:t>Developers Googling error messages at 3 AM</a:t>
            </a:r>
          </a:p>
          <a:p>
            <a:pPr algn="l">
              <a:spcAft>
                <a:spcPts val="559"/>
              </a:spcAft>
              <a:defRPr sz="1400" b="0">
                <a:solidFill>
                  <a:srgbClr val="262626"/>
                </a:solidFill>
                <a:latin typeface="Inter Tight"/>
              </a:defRPr>
            </a:pPr>
            <a:r>
              <a:t>Security patches applied 'eventually'</a:t>
            </a:r>
          </a:p>
          <a:p>
            <a:pPr algn="l">
              <a:spcAft>
                <a:spcPts val="559"/>
              </a:spcAft>
              <a:defRPr sz="1400" b="0">
                <a:solidFill>
                  <a:srgbClr val="262626"/>
                </a:solidFill>
                <a:latin typeface="Inter Tight"/>
              </a:defRPr>
            </a:pPr>
            <a:r>
              <a:t>Licensing? We'll deal with it later</a:t>
            </a:r>
          </a:p>
          <a:p>
            <a:pPr algn="l">
              <a:spcAft>
                <a:spcPts val="559"/>
              </a:spcAft>
              <a:defRPr sz="1400" b="0">
                <a:solidFill>
                  <a:srgbClr val="262626"/>
                </a:solidFill>
                <a:latin typeface="Inter Tight"/>
              </a:defRPr>
            </a:pPr>
            <a:r>
              <a:t>Hope-driven uptime strategy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286000"/>
            <a:ext cx="5303520" cy="3657600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99"/>
              </a:spcAft>
              <a:defRPr sz="2000" b="1">
                <a:solidFill>
                  <a:srgbClr val="022791"/>
                </a:solidFill>
                <a:latin typeface="Inter Tight"/>
              </a:defRPr>
            </a:pPr>
            <a:r>
              <a:t>With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01752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59"/>
              </a:spcAft>
              <a:defRPr sz="1400" b="0">
                <a:solidFill>
                  <a:srgbClr val="262626"/>
                </a:solidFill>
                <a:latin typeface="Inter Tight"/>
              </a:defRPr>
            </a:pPr>
            <a:r>
              <a:t>Expert maintainers on speed-dial</a:t>
            </a:r>
          </a:p>
          <a:p>
            <a:pPr algn="l">
              <a:spcAft>
                <a:spcPts val="559"/>
              </a:spcAft>
              <a:defRPr sz="1400" b="0">
                <a:solidFill>
                  <a:srgbClr val="262626"/>
                </a:solidFill>
                <a:latin typeface="Inter Tight"/>
              </a:defRPr>
            </a:pPr>
            <a:r>
              <a:t>Proactive vulnerability patching</a:t>
            </a:r>
          </a:p>
          <a:p>
            <a:pPr algn="l">
              <a:spcAft>
                <a:spcPts val="559"/>
              </a:spcAft>
              <a:defRPr sz="1400" b="0">
                <a:solidFill>
                  <a:srgbClr val="262626"/>
                </a:solidFill>
                <a:latin typeface="Inter Tight"/>
              </a:defRPr>
            </a:pPr>
            <a:r>
              <a:t>Full license compliance dashboard</a:t>
            </a:r>
          </a:p>
          <a:p>
            <a:pPr algn="l">
              <a:spcAft>
                <a:spcPts val="559"/>
              </a:spcAft>
              <a:defRPr sz="1400" b="0">
                <a:solidFill>
                  <a:srgbClr val="262626"/>
                </a:solidFill>
                <a:latin typeface="Inter Tight"/>
              </a:defRPr>
            </a:pPr>
            <a:r>
              <a:t>SLAs backed by actual humans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000000"/>
                </a:solidFill>
                <a:latin typeface="Roboto"/>
              </a:defRPr>
            </a:pPr>
            <a:r>
              <a:t>© 2026 OpenTeams  |  openteams.com</a:t>
            </a:r>
          </a:p>
        </p:txBody>
      </p:sp>
      <p:pic>
        <p:nvPicPr>
          <p:cNvPr id="12" name="Picture 11" descr="OpenTeams-favicon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49224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T-new-logo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"/>
            <a:ext cx="1568394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1005840"/>
            <a:ext cx="731520" cy="54864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22791"/>
                </a:solidFill>
                <a:latin typeface="Inter Tight"/>
              </a:defRPr>
            </a:pPr>
            <a:r>
              <a:t>Numbers That Spark Joy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2468880" cy="146304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468880" cy="54864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22791"/>
                </a:solidFill>
                <a:latin typeface="Inter Tight"/>
              </a:defRPr>
            </a:pPr>
            <a:r>
              <a:t>99.97%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262626"/>
                </a:solidFill>
                <a:latin typeface="Inter Tight"/>
              </a:defRPr>
            </a:pPr>
            <a:r>
              <a:t>Uptime (yes, really)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2103120"/>
            <a:ext cx="2468880" cy="146304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2103120"/>
            <a:ext cx="2468880" cy="54864"/>
          </a:xfrm>
          <a:prstGeom prst="rect">
            <a:avLst/>
          </a:prstGeom>
          <a:solidFill>
            <a:srgbClr val="022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23774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22791"/>
                </a:solidFill>
                <a:latin typeface="Inter Tight"/>
              </a:defRPr>
            </a:pPr>
            <a:r>
              <a:t>42x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0175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262626"/>
                </a:solidFill>
                <a:latin typeface="Inter Tight"/>
              </a:defRPr>
            </a:pPr>
            <a:r>
              <a:t>Faster Than Googling 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103120"/>
            <a:ext cx="2468880" cy="146304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103120"/>
            <a:ext cx="2468880" cy="54864"/>
          </a:xfrm>
          <a:prstGeom prst="rect">
            <a:avLst/>
          </a:prstGeom>
          <a:solidFill>
            <a:srgbClr val="FAA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3774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22791"/>
                </a:solidFill>
                <a:latin typeface="Inter Tight"/>
              </a:defRPr>
            </a:pPr>
            <a:r>
              <a:t>73%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0175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262626"/>
                </a:solidFill>
                <a:latin typeface="Inter Tight"/>
              </a:defRPr>
            </a:pPr>
            <a:r>
              <a:t>Reduction in Developer Tears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2103120"/>
            <a:ext cx="2468880" cy="146304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5400" y="2103120"/>
            <a:ext cx="2468880" cy="54864"/>
          </a:xfrm>
          <a:prstGeom prst="rect">
            <a:avLst/>
          </a:prstGeom>
          <a:solidFill>
            <a:srgbClr val="FF8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23774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22791"/>
                </a:solidFill>
                <a:latin typeface="Inter Tight"/>
              </a:defRPr>
            </a:pPr>
            <a:r>
              <a:t>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30175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262626"/>
                </a:solidFill>
                <a:latin typeface="Inter Tight"/>
              </a:defRPr>
            </a:pPr>
            <a:r>
              <a:t>Coffee Cups Saved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31920"/>
            <a:ext cx="10789920" cy="2286000"/>
          </a:xfrm>
          <a:prstGeom prst="roundRect">
            <a:avLst>
              <a:gd name="adj" fmla="val 6666"/>
            </a:avLst>
          </a:prstGeom>
          <a:solidFill>
            <a:srgbClr val="E8ED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4D75FE"/>
                </a:solidFill>
                <a:latin typeface="Roboto"/>
              </a:defRPr>
            </a:pPr>
            <a:r>
              <a:t>[ Chart / Data Visualization 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000000"/>
                </a:solidFill>
                <a:latin typeface="Roboto"/>
              </a:defRPr>
            </a:pPr>
            <a:r>
              <a:t>© 2026 OpenTeams  |  openteams.com</a:t>
            </a:r>
          </a:p>
        </p:txBody>
      </p:sp>
      <p:pic>
        <p:nvPicPr>
          <p:cNvPr id="23" name="Picture 22" descr="OpenTeams-favicon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49224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279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0" b="1">
                <a:solidFill>
                  <a:srgbClr val="4D75FE"/>
                </a:solidFill>
                <a:latin typeface="Inter Tight"/>
              </a:defRPr>
            </a:pPr>
            <a: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56032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Inter Tight"/>
              </a:defRPr>
            </a:pPr>
            <a:r>
              <a:t>We used to mass-email maintainers</a:t>
            </a:r>
            <a:br/>
            <a:r>
              <a:t>and pray. Now we just call OpenTeams.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5720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39"/>
              </a:spcAft>
              <a:defRPr sz="1600" b="0">
                <a:solidFill>
                  <a:srgbClr val="4D75FE"/>
                </a:solidFill>
                <a:latin typeface="Inter Tight"/>
              </a:defRPr>
            </a:pPr>
            <a:r>
              <a:t>— A Very Relieved VP of Engineering</a:t>
            </a:r>
          </a:p>
        </p:txBody>
      </p:sp>
      <p:sp>
        <p:nvSpPr>
          <p:cNvPr id="5" name="Oval 4"/>
          <p:cNvSpPr/>
          <p:nvPr/>
        </p:nvSpPr>
        <p:spPr>
          <a:xfrm>
            <a:off x="10515600" y="5029200"/>
            <a:ext cx="228600" cy="228600"/>
          </a:xfrm>
          <a:prstGeom prst="ellipse">
            <a:avLst/>
          </a:prstGeom>
          <a:solidFill>
            <a:srgbClr val="FAA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4572000"/>
            <a:ext cx="228600" cy="228600"/>
          </a:xfrm>
          <a:prstGeom prst="ellipse">
            <a:avLst/>
          </a:prstGeom>
          <a:solidFill>
            <a:srgbClr val="FF8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T-new-logo-final-white-horizontal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117336"/>
            <a:ext cx="1568394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T-new-logo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"/>
            <a:ext cx="1568394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1005840"/>
            <a:ext cx="731520" cy="54864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22791"/>
                </a:solidFill>
                <a:latin typeface="Inter Tight"/>
              </a:defRPr>
            </a:pPr>
            <a:r>
              <a:t>Case Study: Definitely Not IBM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86000"/>
            <a:ext cx="3383280" cy="3657600"/>
          </a:xfrm>
          <a:prstGeom prst="roundRect">
            <a:avLst>
              <a:gd name="adj" fmla="val 4504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86000"/>
            <a:ext cx="3383280" cy="64008"/>
          </a:xfrm>
          <a:prstGeom prst="rect">
            <a:avLst/>
          </a:prstGeom>
          <a:solidFill>
            <a:srgbClr val="FF8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651760"/>
            <a:ext cx="548640" cy="548640"/>
          </a:xfrm>
          <a:prstGeom prst="ellipse">
            <a:avLst/>
          </a:prstGeom>
          <a:solidFill>
            <a:srgbClr val="FF8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3832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99"/>
              </a:spcAft>
              <a:defRPr sz="2000" b="1">
                <a:solidFill>
                  <a:srgbClr val="022791"/>
                </a:solidFill>
                <a:latin typeface="Inter Tight"/>
              </a:defRPr>
            </a:pPr>
            <a:r>
              <a:t>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319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19"/>
              </a:spcAft>
              <a:defRPr sz="1300" b="0">
                <a:solidFill>
                  <a:srgbClr val="262626"/>
                </a:solidFill>
                <a:latin typeface="Inter Tight"/>
              </a:defRPr>
            </a:pPr>
            <a:r>
              <a:t>A large technology company (blue logo, nice hats) had 14,000 unmanaged open source dependencies across 800 microservices.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383280" cy="3657600"/>
          </a:xfrm>
          <a:prstGeom prst="roundRect">
            <a:avLst>
              <a:gd name="adj" fmla="val 4504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2286000"/>
            <a:ext cx="3383280" cy="64008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09160" y="2651760"/>
            <a:ext cx="548640" cy="548640"/>
          </a:xfrm>
          <a:prstGeom prst="ellipse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3832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99"/>
              </a:spcAft>
              <a:defRPr sz="2000" b="1">
                <a:solidFill>
                  <a:srgbClr val="022791"/>
                </a:solidFill>
                <a:latin typeface="Inter Tight"/>
              </a:defRPr>
            </a:pPr>
            <a: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9319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19"/>
              </a:spcAft>
              <a:defRPr sz="1300" b="0">
                <a:solidFill>
                  <a:srgbClr val="262626"/>
                </a:solidFill>
                <a:latin typeface="Inter Tight"/>
              </a:defRPr>
            </a:pPr>
            <a:r>
              <a:t>OpenTeams deployed unified support coverage, automated license scanning, and a dedicated maintainer hotline with 15-minute response SLA.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2286000"/>
            <a:ext cx="3383280" cy="3657600"/>
          </a:xfrm>
          <a:prstGeom prst="roundRect">
            <a:avLst>
              <a:gd name="adj" fmla="val 4504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80" y="2286000"/>
            <a:ext cx="3383280" cy="64008"/>
          </a:xfrm>
          <a:prstGeom prst="rect">
            <a:avLst/>
          </a:prstGeom>
          <a:solidFill>
            <a:srgbClr val="FAA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58200" y="2651760"/>
            <a:ext cx="548640" cy="548640"/>
          </a:xfrm>
          <a:prstGeom prst="ellipse">
            <a:avLst/>
          </a:prstGeom>
          <a:solidFill>
            <a:srgbClr val="FAA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3832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99"/>
              </a:spcAft>
              <a:defRPr sz="2000" b="1">
                <a:solidFill>
                  <a:srgbClr val="022791"/>
                </a:solidFill>
                <a:latin typeface="Inter Tight"/>
              </a:defRPr>
            </a:pPr>
            <a:r>
              <a:t>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9319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19"/>
              </a:spcAft>
              <a:defRPr sz="1300" b="0">
                <a:solidFill>
                  <a:srgbClr val="262626"/>
                </a:solidFill>
                <a:latin typeface="Inter Tight"/>
              </a:defRPr>
            </a:pPr>
            <a:r>
              <a:t>85% fewer CVE firefights. Compliance audit completed in 2 days instead of 2 months. Developers started sleeping again.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000000"/>
                </a:solidFill>
                <a:latin typeface="Roboto"/>
              </a:defRPr>
            </a:pPr>
            <a:r>
              <a:t>© 2026 OpenTeams  |  openteams.com</a:t>
            </a:r>
          </a:p>
        </p:txBody>
      </p:sp>
      <p:pic>
        <p:nvPicPr>
          <p:cNvPr id="21" name="Picture 20" descr="OpenTeams-favicon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49224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T-new-logo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"/>
            <a:ext cx="1568394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1005840"/>
            <a:ext cx="731520" cy="54864"/>
          </a:xfrm>
          <a:prstGeom prst="rect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22791"/>
                </a:solidFill>
                <a:latin typeface="Inter Tight"/>
              </a:defRPr>
            </a:pPr>
            <a:r>
              <a:t>The Humans Behind the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2468880" cy="3840480"/>
          </a:xfrm>
          <a:prstGeom prst="roundRect">
            <a:avLst>
              <a:gd name="adj" fmla="val 6172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17320" y="2468880"/>
            <a:ext cx="1280160" cy="1280160"/>
          </a:xfrm>
          <a:prstGeom prst="ellipse">
            <a:avLst/>
          </a:prstGeom>
          <a:solidFill>
            <a:srgbClr val="4D7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023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39"/>
              </a:spcAft>
              <a:defRPr sz="1600" b="1">
                <a:solidFill>
                  <a:srgbClr val="022791"/>
                </a:solidFill>
                <a:latin typeface="Inter Tight"/>
              </a:defRPr>
            </a:pPr>
            <a:r>
              <a:t>Dr. Opensourcian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805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79"/>
              </a:spcAft>
              <a:defRPr sz="1200" b="0">
                <a:solidFill>
                  <a:srgbClr val="4D75FE"/>
                </a:solidFill>
                <a:latin typeface="Inter Tight"/>
              </a:defRPr>
            </a:pPr>
            <a:r>
              <a:t>Chief Llama Wrangler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9377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39"/>
              </a:spcAft>
              <a:defRPr sz="1100" b="0">
                <a:solidFill>
                  <a:srgbClr val="262626"/>
                </a:solidFill>
                <a:latin typeface="Inter Tight"/>
              </a:defRPr>
            </a:pPr>
            <a:r>
              <a:t>Has committed to more repos than anyone should admit.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2103120"/>
            <a:ext cx="2468880" cy="3840480"/>
          </a:xfrm>
          <a:prstGeom prst="roundRect">
            <a:avLst>
              <a:gd name="adj" fmla="val 6172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06240" y="2468880"/>
            <a:ext cx="1280160" cy="1280160"/>
          </a:xfrm>
          <a:prstGeom prst="ellipse">
            <a:avLst/>
          </a:prstGeom>
          <a:solidFill>
            <a:srgbClr val="022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39"/>
              </a:spcAft>
              <a:defRPr sz="1600" b="1">
                <a:solidFill>
                  <a:srgbClr val="022791"/>
                </a:solidFill>
                <a:latin typeface="Inter Tight"/>
              </a:defRPr>
            </a:pPr>
            <a:r>
              <a:t>Patches McGee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44805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79"/>
              </a:spcAft>
              <a:defRPr sz="1200" b="0">
                <a:solidFill>
                  <a:srgbClr val="4D75FE"/>
                </a:solidFill>
                <a:latin typeface="Inter Tight"/>
              </a:defRPr>
            </a:pPr>
            <a:r>
              <a:t>Head of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9377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39"/>
              </a:spcAft>
              <a:defRPr sz="1100" b="0">
                <a:solidFill>
                  <a:srgbClr val="262626"/>
                </a:solidFill>
                <a:latin typeface="Inter Tight"/>
              </a:defRPr>
            </a:pPr>
            <a:r>
              <a:t>Finds vulnerabilities before they find you.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103120"/>
            <a:ext cx="2468880" cy="3840480"/>
          </a:xfrm>
          <a:prstGeom prst="roundRect">
            <a:avLst>
              <a:gd name="adj" fmla="val 6172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95160" y="2468880"/>
            <a:ext cx="1280160" cy="1280160"/>
          </a:xfrm>
          <a:prstGeom prst="ellipse">
            <a:avLst/>
          </a:prstGeom>
          <a:solidFill>
            <a:srgbClr val="FAA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023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39"/>
              </a:spcAft>
              <a:defRPr sz="1600" b="1">
                <a:solidFill>
                  <a:srgbClr val="022791"/>
                </a:solidFill>
                <a:latin typeface="Inter Tight"/>
              </a:defRPr>
            </a:pPr>
            <a:r>
              <a:t>Linus Adjacent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4805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79"/>
              </a:spcAft>
              <a:defRPr sz="1200" b="0">
                <a:solidFill>
                  <a:srgbClr val="4D75FE"/>
                </a:solidFill>
                <a:latin typeface="Inter Tight"/>
              </a:defRPr>
            </a:pPr>
            <a:r>
              <a:t>Platform Architect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9377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39"/>
              </a:spcAft>
              <a:defRPr sz="1100" b="0">
                <a:solidFill>
                  <a:srgbClr val="262626"/>
                </a:solidFill>
                <a:latin typeface="Inter Tight"/>
              </a:defRPr>
            </a:pPr>
            <a:r>
              <a:t>Built three operating systems by accident.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000000"/>
                </a:solidFill>
                <a:latin typeface="Roboto"/>
              </a:defRPr>
            </a:pPr>
            <a:r>
              <a:t>© 2026 OpenTeams  |  openteams.com</a:t>
            </a:r>
          </a:p>
        </p:txBody>
      </p:sp>
      <p:pic>
        <p:nvPicPr>
          <p:cNvPr id="21" name="Picture 20" descr="OpenTeams-favicon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49224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022791"/>
              </a:gs>
              <a:gs pos="100000">
                <a:srgbClr val="4D75FE"/>
              </a:gs>
            </a:gsLst>
            <a:lin ang="81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914400"/>
            <a:ext cx="1371600" cy="1371600"/>
          </a:xfrm>
          <a:prstGeom prst="ellipse">
            <a:avLst/>
          </a:prstGeom>
          <a:solidFill>
            <a:srgbClr val="FAA944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1828800" cy="1828800"/>
          </a:xfrm>
          <a:prstGeom prst="ellipse">
            <a:avLst/>
          </a:prstGeom>
          <a:solidFill>
            <a:srgbClr val="FF8A6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1371600"/>
            <a:ext cx="731520" cy="731520"/>
          </a:xfrm>
          <a:prstGeom prst="ellipse">
            <a:avLst/>
          </a:prstGeom>
          <a:solidFill>
            <a:srgbClr val="4D75FE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Inter Tight"/>
              </a:defRPr>
            </a:pPr>
            <a:r>
              <a:t>Let's Build Something Blue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79"/>
              </a:spcAft>
              <a:defRPr sz="2200" b="0">
                <a:solidFill>
                  <a:srgbClr val="4D75FE"/>
                </a:solidFill>
                <a:latin typeface="Inter Tight"/>
              </a:defRPr>
            </a:pPr>
            <a:r>
              <a:t>IBM + OpenTeams = Enterprise Open Source Nirvana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15687" y="4389120"/>
            <a:ext cx="2560320" cy="502920"/>
          </a:xfrm>
          <a:prstGeom prst="roundRect">
            <a:avLst>
              <a:gd name="adj" fmla="val 4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22791"/>
                </a:solidFill>
                <a:latin typeface="Inter Tight"/>
              </a:defRPr>
            </a:pPr>
            <a:r>
              <a:t>Start the Conversation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59"/>
              </a:spcAft>
              <a:defRPr sz="1400" b="0">
                <a:solidFill>
                  <a:srgbClr val="FFFFFF"/>
                </a:solidFill>
                <a:latin typeface="Inter Tight"/>
              </a:defRPr>
            </a:pPr>
            <a:r>
              <a:t>hello@openteams.com  |  openteams.com</a:t>
            </a:r>
          </a:p>
        </p:txBody>
      </p:sp>
      <p:pic>
        <p:nvPicPr>
          <p:cNvPr id="10" name="Picture 9" descr="OT-new-logo-final-white-horizontal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7384" y="6025896"/>
            <a:ext cx="1916926" cy="502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